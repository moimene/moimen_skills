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A3348"/>
                </a:solidFill>
                <a:latin typeface="Matter"/>
              </a:defRPr>
            </a:pPr>
            <a:r>
              <a:t>[Zona] – [Tipo] Opportunity</a:t>
            </a:r>
          </a:p>
          <a:p>
            <a:pPr>
              <a:defRPr sz="2000">
                <a:solidFill>
                  <a:srgbClr val="FFFFFF"/>
                </a:solidFill>
                <a:latin typeface="Messina Serif"/>
              </a:defRPr>
            </a:pPr>
            <a:r>
              <a:t>February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034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Messina Serif"/>
              </a:defRPr>
            </a:pPr>
            <a:r>
              <a:t>Private &amp; Confidential | Sponsor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548640"/>
            <a:ext cx="1371600" cy="548640"/>
          </a:xfrm>
          <a:prstGeom prst="rect">
            <a:avLst/>
          </a:prstGeom>
          <a:solidFill>
            <a:srgbClr val="F7F7F7"/>
          </a:solidFill>
          <a:ln>
            <a:solidFill>
              <a:srgbClr val="D6D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atter"/>
              </a:defRPr>
            </a:pPr>
            <a:r>
              <a:t>Executive Summary – [Proyecto]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Matter"/>
              </a:defRPr>
            </a:pPr>
            <a:r>
              <a:t>The Opportunity</a:t>
            </a:r>
          </a:p>
          <a:p>
            <a:pPr>
              <a:defRPr sz="1400">
                <a:solidFill>
                  <a:srgbClr val="000000"/>
                </a:solidFill>
                <a:latin typeface="Messina Serif"/>
              </a:defRPr>
            </a:pPr>
            <a:r>
              <a:t>• Bullet 1</a:t>
            </a:r>
            <a:br/>
            <a:r>
              <a:t>• Bullet 2</a:t>
            </a:r>
            <a:br/>
            <a:r>
              <a:t>• Bullet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28016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Matter"/>
              </a:defRPr>
            </a:pPr>
            <a:r>
              <a:t>The Location</a:t>
            </a:r>
          </a:p>
          <a:p>
            <a:pPr>
              <a:defRPr sz="1400">
                <a:solidFill>
                  <a:srgbClr val="000000"/>
                </a:solidFill>
                <a:latin typeface="Messina Serif"/>
              </a:defRPr>
            </a:pPr>
            <a:r>
              <a:t>• Bullet 1</a:t>
            </a:r>
            <a:br/>
            <a:r>
              <a:t>• Bullet 2</a:t>
            </a:r>
            <a:br/>
            <a:r>
              <a:t>• Bullet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atter"/>
              </a:defRPr>
            </a:pPr>
            <a:r>
              <a:t>Investment highlights</a:t>
            </a:r>
          </a:p>
          <a:p>
            <a:pPr>
              <a:defRPr sz="1200">
                <a:solidFill>
                  <a:srgbClr val="000000"/>
                </a:solidFill>
                <a:latin typeface="Messina Serif"/>
              </a:defRPr>
            </a:pPr>
            <a:r>
              <a:t>Metric | Value |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034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173"/>
                </a:solidFill>
                <a:latin typeface="Messina Serif"/>
              </a:defRPr>
            </a:pPr>
            <a:r>
              <a:t>Private &amp; Confidential |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atter"/>
              </a:defRPr>
            </a:pPr>
            <a:r>
              <a:t>Market update – [Ciudad / submercado]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Matter"/>
              </a:defRPr>
            </a:pPr>
            <a:r>
              <a:t>Thesis</a:t>
            </a:r>
          </a:p>
          <a:p>
            <a:pPr>
              <a:defRPr sz="1400">
                <a:solidFill>
                  <a:srgbClr val="000000"/>
                </a:solidFill>
                <a:latin typeface="Messina Serif"/>
              </a:defRPr>
            </a:pPr>
            <a:r>
              <a:t>• Bullet 1</a:t>
            </a:r>
            <a:br/>
            <a:r>
              <a:t>• Bullet 2</a:t>
            </a:r>
            <a:br/>
            <a:r>
              <a:t>• Bullet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28016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Matter"/>
              </a:defRPr>
            </a:pPr>
            <a:r>
              <a:t>Conclusions</a:t>
            </a:r>
          </a:p>
          <a:p>
            <a:pPr>
              <a:defRPr sz="1400">
                <a:solidFill>
                  <a:srgbClr val="000000"/>
                </a:solidFill>
                <a:latin typeface="Messina Serif"/>
              </a:defRPr>
            </a:pPr>
            <a:r>
              <a:t>• Bullet 1</a:t>
            </a:r>
            <a:br/>
            <a:r>
              <a:t>• Bullet 2</a:t>
            </a:r>
            <a:br/>
            <a:r>
              <a:t>• Bullet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7173"/>
                </a:solidFill>
                <a:latin typeface="Messina Serif"/>
              </a:defRPr>
            </a:pPr>
            <a:r>
              <a:t>[Placeholder chart: take-up vs vacancy,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034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173"/>
                </a:solidFill>
                <a:latin typeface="Messina Serif"/>
              </a:defRPr>
            </a:pPr>
            <a:r>
              <a:t>Private &amp; Confidential |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atter"/>
              </a:defRPr>
            </a:pPr>
            <a:r>
              <a:t>[Comp] vs. [Proyecto]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atter"/>
              </a:defRPr>
            </a:pPr>
            <a:r>
              <a:t>Business plan to replicate [comp] success</a:t>
            </a:r>
          </a:p>
          <a:p>
            <a:pPr>
              <a:defRPr sz="1200">
                <a:solidFill>
                  <a:srgbClr val="000000"/>
                </a:solidFill>
                <a:latin typeface="Messina Serif"/>
              </a:defRPr>
            </a:pPr>
            <a:r>
              <a:t>Metric | Value |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034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173"/>
                </a:solidFill>
                <a:latin typeface="Messina Serif"/>
              </a:defRPr>
            </a:pPr>
            <a:r>
              <a:t>Private &amp; Confidential |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atter"/>
              </a:defRPr>
            </a:pPr>
            <a: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Messina Serif"/>
              </a:defRPr>
            </a:pPr>
            <a:r>
              <a:t>Sponsor Name</a:t>
            </a:r>
          </a:p>
          <a:p>
            <a:pPr>
              <a:defRPr sz="1400">
                <a:solidFill>
                  <a:srgbClr val="000000"/>
                </a:solidFill>
                <a:latin typeface="Messina Serif"/>
              </a:defRPr>
            </a:pPr>
            <a:r>
              <a:t>Address</a:t>
            </a:r>
          </a:p>
          <a:p>
            <a:pPr>
              <a:defRPr sz="1400">
                <a:solidFill>
                  <a:srgbClr val="000000"/>
                </a:solidFill>
                <a:latin typeface="Messina Serif"/>
              </a:defRPr>
            </a:pPr>
            <a:r>
              <a:t>Email |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F7173"/>
                </a:solidFill>
                <a:latin typeface="Messina Serif"/>
              </a:defRPr>
            </a:pPr>
            <a:r>
              <a:t>Legal disclaimer placeholder. Replace with your standard disclosure.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034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173"/>
                </a:solidFill>
                <a:latin typeface="Messina Serif"/>
              </a:defRPr>
            </a:pPr>
            <a:r>
              <a:t>Private &amp; Confidential |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